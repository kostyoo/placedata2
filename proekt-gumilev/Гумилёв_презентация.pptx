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6a556266-00fb-21f1-7270-096100e52372}">
          <p14:sldIdLst>
            <p14:sldId id="256"/>
            <p14:sldId id="257"/>
            <p14:sldId id="258"/>
            <p14:sldId id="259"/>
          </p14:sldIdLst>
        </p14:section>
        <p14:section name="Жизненный путь" id="{bc1bc90a-412a-e344-db99-333d025f27ef}">
          <p14:sldIdLst>
            <p14:sldId id="260"/>
            <p14:sldId id="261"/>
            <p14:sldId id="262"/>
            <p14:sldId id="263"/>
          </p14:sldIdLst>
        </p14:section>
        <p14:section name="Акмеизм" id="{91c7d1f3-0ba7-5a14-e2c3-8123ad8dd3c4}">
          <p14:sldIdLst>
            <p14:sldId id="264"/>
          </p14:sldIdLst>
        </p14:section>
        <p14:section name="Творчество" id="{c1b427d7-62cb-6aff-b459-830069a10549}">
          <p14:sldIdLst>
            <p14:sldId id="265"/>
            <p14:sldId id="266"/>
            <p14:sldId id="267"/>
            <p14:sldId id="268"/>
            <p14:sldId id="269"/>
          </p14:sldIdLst>
        </p14:section>
        <p14:section name="Итоги" id="{cbb75912-4e49-a031-5c7e-b8261ae32f9e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Константин Досбаев, я ученик 11 класса. Тема моего индивидуального проекта — «Муза Дальних Странствий»: жизнь и творчество Николая Гумилёва». Руководитель проекта — Татьяна Юрьевна Курицына.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учебнике литературы для 11 класса на странице 395 перечислены поэты Серебряного века: Брюсов, Бальмонт, Сологуб, Андрей Белый, Анненский, Гумилёв, Северянин и Ходасевич. Я выбрал Николая Гумилёва. Актуальность темы в том, что более шестидесяти лет его стихи были под запретом, а сегодня многие знают его лишь по одному-двум стихотворениям. Проблема: Гумилёва часто считают только «певцом экзотики», хотя в поздних стихах он — глубокий поэт-мыслитель. Как связаны его биография и его поэзия?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проекта — выяснить, как жизненный путь Гумилёва — путешественника и воина — отразился в его поэзии, и подготовить материалы, которые помогут одноклассникам познакомиться с поэтом. Для этого я поставил шесть задач: изучить литературу о жизни поэта, рассмотреть историю акмеизма, проанализировать стихотворения разных лет, проследить эволюцию лирического героя, систематизировать материал в таблицах и создать презентацию.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 исследования — поэзия Серебряного века, предмет — жизнь и творчество Гумилёва и образ его лирического героя. Моя гипотеза: путешествия и война сформировали главный образ его поэзии — образ сильного человека, идущего навстречу неизведанному, и этот образ от сборника к сборнику углубляется. Я использовал анализ литературы и художественного текста, сравнение, хронологический метод и обобщение.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Гумилёв прожил всего тридцать пять лет — с 1886 по 1921 год. За это время он выпустил девять сборников стихов, четыре раза побывал в Африке, воевал добровольцем на фронте Первой мировой войны и создал новое литературное течение — акмеизм.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Гумилёв родился в Кронштадте в семье корабельного врача. В детстве он зачитывался Майн Ридом и Жюлем Верном и мечтал о дальних странах. Учился в Царскосельской гимназии, директором которой был поэт Иннокентий Анненский — его первый учитель в поэзии. В девятнадцать лет Гумилёв выпустил первый сборник — «Путь конквистадоров». Конквистадор — завоеватель, первооткрыватель. Строки «Я конквистадор в панцире железном, / Я весело преследую звезду» стали девизом всей его жизни.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Африка была мечтой Гумилёва с детства. С 1907 по 1913 год он совершил четыре путешествия — в Египет, Абиссинию и Сомали. Последнее было научной экспедицией Академии наук: Гумилёв собрал коллекцию предметов быта, которая до сих пор хранится в Кунсткамере в Петербурге. Сам он писал Брюсову, что едет, чтобы «в новой обстановке найти новые слова».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1910 году Гумилёв женился на Анне Ахматовой, а в 1912 году у них родился сын Лев — будущий известный историк. В 1914 году, с началом Первой мировой войны, Гумилёв ушёл на фронт добровольцем, служил в кавалерии и за храбрость получил два Георгиевских креста. Война в его стихах — суровое испытание: «Мы четвёртый день наступаем, / Мы не ели четыре дня».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1911 году Гумилёв вместе с Сергеем Городецким основал «Цех поэтов», а в 1913 году опубликовал манифест «Наследие символизма и акмеизм». Символисты искали за видимым миром иной, таинственный мир. Акмеисты — Гумилёв, Ахматова, Мандельштам — призывали ценить земной мир и писать ясно и точно. Название течения происходит от греческого слова «акме» — высшая степень, расцвет.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жизни Гумилёв выпустил девять сборников — от «Пути конквистадоров» до «Огненного столпа». Для анализа я выбрал стихотворения из сборников разных лет: «Жираф», цикл «Капитаны» и стихи последней книги.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«Жираф» — самое известное раннее стихотворение Гумилёва. Герой утешает грустную возлюбленную сказкой о далёком озере Чад. Мир Африки — мир красоты и свободы — противопоставлен «тяжёлому туману» и дождю северного города. Кольцевая композиция подчёркивает главное: мечта существует, даже если в неё не верят.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цикле «Капитаны» из сборника «Жемчуга» мечта обретает героя — человека действия. Капитаны — «открыватели новых земель», которым «не страшны ураганы». Поэт называет реальных мореплавателей: Кука, Лаперуза, да Гаму, Колумба. Чёткий ритм анапеста передаёт решительность и мужество. Это идеал самого Гумилёва — путешественника и воина.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Последний сборник «Огненный столп» считают вершиной творчества Гумилёва. Экзотика уступает место философии. В стихотворении «Память» поэт оглядывается на свою жизнь и называет себя «зодчим храма». В «Шестом чувстве» он говорит, что человеку мало хлеба и вина — ему нужно научиться понимать красоту и поэзию. А в «Заблудившемся трамвае» путешествие становится внутренним: герой ищет вокзал, где можно купить билет «в Индию Духа».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Сравнив стихи разных лет, я увидел, как меняется лирический герой: романтик-конквистадор ранних стихов становится капитаном и воином, а затем — поэтом-мыслителем. Мужество остаётся, но меняется цель поиска: от экзотических стран — к духовной истине.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августе 1921 года Гумилёв был арестован по делу о так называемом заговоре и расстрелян. Ему было тридцать пять лет. Более шестидесяти лет его имя замалчивалось. Лишь в 1986 году его стихи снова напечатали, а в 1992 году поэт был официально реабилитирован.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задачи проекта решены, а гипотеза подтвердилась: жизненный опыт Гумилёва сформировал его лирического героя, и этот герой от сборника к сборнику становился глубже. Для меня Гумилёв — поэт, у которого слово не расходилось с делом. Его строки «Я учу их, как не бояться, / Не бояться и делать что надо» актуальны и сегодня. Продукт проекта — доклад, презентация и таблицы, которые можно использовать на уроках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слайде перечислены основные источники, которые я использовал: школьный учебник, стихотворения и статьи Гумилёва, воспоминания современников и биографические книги.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Я готов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6949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8872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«Муза Дальних Странствий»:</a:t>
            </a:r>
            <a:endParaRPr lang="en-US" sz="44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жизнь и творчество Николая Гумилёва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Индивидуальный проект по литературе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7200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Выполнил: </a:t>
            </a:r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Досбаев Константин, ученик 11 класса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Руководитель: </a:t>
            </a:r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Курицына Татьяна Юрьевна,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учитель русского языка и литературы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2026</a:t>
            </a:r>
            <a:endParaRPr lang="en-US" sz="1600" dirty="0"/>
          </a:p>
        </p:txBody>
      </p:sp>
      <p:sp>
        <p:nvSpPr>
          <p:cNvPr id="6" name="photo frame portrait.jpg"/>
          <p:cNvSpPr/>
          <p:nvPr/>
        </p:nvSpPr>
        <p:spPr>
          <a:xfrm>
            <a:off x="8211312" y="804672"/>
            <a:ext cx="3374136" cy="448056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7" name="photo portrait.jpg" descr="Николай Степанович Гумилёв (1886–1921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75320" y="868680"/>
            <a:ext cx="3246120" cy="43525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75320" y="5349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Николай Степанович Гумилёв (1886–1921)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Гумилёв?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Поэты Серебряного века в учебнике «Русская литература XX века», 11 класс, ч. 1, с. 395:</a:t>
            </a:r>
            <a:endParaRPr lang="en-US" sz="1400" dirty="0"/>
          </a:p>
        </p:txBody>
      </p:sp>
      <p:sp>
        <p:nvSpPr>
          <p:cNvPr id="5" name="chip В. Брюсов"/>
          <p:cNvSpPr/>
          <p:nvPr/>
        </p:nvSpPr>
        <p:spPr>
          <a:xfrm>
            <a:off x="548640" y="1645920"/>
            <a:ext cx="129079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1290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В. Брюсов</a:t>
            </a:r>
            <a:endParaRPr lang="en-US" sz="1400" dirty="0"/>
          </a:p>
        </p:txBody>
      </p:sp>
      <p:sp>
        <p:nvSpPr>
          <p:cNvPr id="7" name="chip К. Бальмонт"/>
          <p:cNvSpPr/>
          <p:nvPr/>
        </p:nvSpPr>
        <p:spPr>
          <a:xfrm>
            <a:off x="1949158" y="1645920"/>
            <a:ext cx="129079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949158" y="1645920"/>
            <a:ext cx="1290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К. Бальмонт</a:t>
            </a:r>
            <a:endParaRPr lang="en-US" sz="1400" dirty="0"/>
          </a:p>
        </p:txBody>
      </p:sp>
      <p:sp>
        <p:nvSpPr>
          <p:cNvPr id="9" name="chip Ф. Сологуб"/>
          <p:cNvSpPr/>
          <p:nvPr/>
        </p:nvSpPr>
        <p:spPr>
          <a:xfrm>
            <a:off x="3349676" y="1645920"/>
            <a:ext cx="129079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49676" y="1645920"/>
            <a:ext cx="1290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Ф. Сологуб</a:t>
            </a:r>
            <a:endParaRPr lang="en-US" sz="1400" dirty="0"/>
          </a:p>
        </p:txBody>
      </p:sp>
      <p:sp>
        <p:nvSpPr>
          <p:cNvPr id="11" name="chip А. Белый"/>
          <p:cNvSpPr/>
          <p:nvPr/>
        </p:nvSpPr>
        <p:spPr>
          <a:xfrm>
            <a:off x="4750194" y="1645920"/>
            <a:ext cx="129079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50194" y="1645920"/>
            <a:ext cx="1290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А. Белый</a:t>
            </a:r>
            <a:endParaRPr lang="en-US" sz="1400" dirty="0"/>
          </a:p>
        </p:txBody>
      </p:sp>
      <p:sp>
        <p:nvSpPr>
          <p:cNvPr id="13" name="chip И. Анненский"/>
          <p:cNvSpPr/>
          <p:nvPr/>
        </p:nvSpPr>
        <p:spPr>
          <a:xfrm>
            <a:off x="6150712" y="1645920"/>
            <a:ext cx="129079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50712" y="1645920"/>
            <a:ext cx="1290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И. Анненский</a:t>
            </a:r>
            <a:endParaRPr lang="en-US" sz="1400" dirty="0"/>
          </a:p>
        </p:txBody>
      </p:sp>
      <p:sp>
        <p:nvSpPr>
          <p:cNvPr id="15" name="chip Н. Гумилёв"/>
          <p:cNvSpPr/>
          <p:nvPr/>
        </p:nvSpPr>
        <p:spPr>
          <a:xfrm>
            <a:off x="7551230" y="1645920"/>
            <a:ext cx="129079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51230" y="1645920"/>
            <a:ext cx="1290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Н. Гумилёв</a:t>
            </a:r>
            <a:endParaRPr lang="en-US" sz="1400" dirty="0"/>
          </a:p>
        </p:txBody>
      </p:sp>
      <p:sp>
        <p:nvSpPr>
          <p:cNvPr id="17" name="chip И. Северянин"/>
          <p:cNvSpPr/>
          <p:nvPr/>
        </p:nvSpPr>
        <p:spPr>
          <a:xfrm>
            <a:off x="8951747" y="1645920"/>
            <a:ext cx="129079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51747" y="1645920"/>
            <a:ext cx="1290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И. Северянин</a:t>
            </a:r>
            <a:endParaRPr lang="en-US" sz="1400" dirty="0"/>
          </a:p>
        </p:txBody>
      </p:sp>
      <p:sp>
        <p:nvSpPr>
          <p:cNvPr id="19" name="chip В. Ходасевич"/>
          <p:cNvSpPr/>
          <p:nvPr/>
        </p:nvSpPr>
        <p:spPr>
          <a:xfrm>
            <a:off x="10352265" y="1645920"/>
            <a:ext cx="129079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352265" y="1645920"/>
            <a:ext cx="1290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В. Ходасевич</a:t>
            </a:r>
            <a:endParaRPr lang="en-US" sz="1400" dirty="0"/>
          </a:p>
        </p:txBody>
      </p:sp>
      <p:sp>
        <p:nvSpPr>
          <p:cNvPr id="21" name="card Актуальность"/>
          <p:cNvSpPr/>
          <p:nvPr/>
        </p:nvSpPr>
        <p:spPr>
          <a:xfrm>
            <a:off x="548640" y="2606040"/>
            <a:ext cx="536432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22" name="Актуальность circle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Актуальность glyph" descr="Актуальност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3041294"/>
            <a:ext cx="409651" cy="409651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783080" y="2880360"/>
            <a:ext cx="380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868680" y="3794760"/>
            <a:ext cx="47242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Более 60 лет стихи Гумилёва были под запретом. Сегодня многие школьники знают его лишь по «Жирафу» и «Капитанам», хотя его темы — мечта, мужество, выбор пути — близки современному человеку.</a:t>
            </a:r>
            <a:endParaRPr lang="en-US" sz="1900" dirty="0"/>
          </a:p>
        </p:txBody>
      </p:sp>
      <p:sp>
        <p:nvSpPr>
          <p:cNvPr id="26" name="card Проблема"/>
          <p:cNvSpPr/>
          <p:nvPr/>
        </p:nvSpPr>
        <p:spPr>
          <a:xfrm>
            <a:off x="6278728" y="2606040"/>
            <a:ext cx="536432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27" name="Проблема circle"/>
          <p:cNvSpPr/>
          <p:nvPr/>
        </p:nvSpPr>
        <p:spPr>
          <a:xfrm>
            <a:off x="6598768" y="2880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Проблема glyph" descr="Проблем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702" y="3041294"/>
            <a:ext cx="409651" cy="409651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513168" y="2880360"/>
            <a:ext cx="380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6598768" y="3794760"/>
            <a:ext cx="47242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Гумилёва часто называют «певцом экзотики». Но как связаны его реальная биография — путешествия, война — и глубина его поздней философской лирики?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 проекта</a:t>
            </a:r>
            <a:endParaRPr lang="en-US" sz="3600" dirty="0"/>
          </a:p>
        </p:txBody>
      </p:sp>
      <p:sp>
        <p:nvSpPr>
          <p:cNvPr id="4" name="goal card"/>
          <p:cNvSpPr/>
          <p:nvPr/>
        </p:nvSpPr>
        <p:spPr>
          <a:xfrm>
            <a:off x="548640" y="1325880"/>
            <a:ext cx="3840480" cy="484632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</p:spPr>
      </p:sp>
      <p:sp>
        <p:nvSpPr>
          <p:cNvPr id="5" name="goal 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goal glyph" descr="go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1816913"/>
            <a:ext cx="435254" cy="4352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2004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Выяснить, как жизненный путь Н. С. Гумилёва — путешественника и воина — отразился в его поэзии, и подготовить материалы, которые помогут одноклассникам открыть для себя творчество поэта.</a:t>
            </a:r>
            <a:endParaRPr lang="en-US" sz="1900" dirty="0"/>
          </a:p>
        </p:txBody>
      </p:sp>
      <p:sp>
        <p:nvSpPr>
          <p:cNvPr id="9" name="task 1"/>
          <p:cNvSpPr/>
          <p:nvPr/>
        </p:nvSpPr>
        <p:spPr>
          <a:xfrm>
            <a:off x="4754880" y="1325880"/>
            <a:ext cx="33069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0" name="task badge 1"/>
          <p:cNvSpPr/>
          <p:nvPr/>
        </p:nvSpPr>
        <p:spPr>
          <a:xfrm>
            <a:off x="4983480" y="1783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9834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325880"/>
            <a:ext cx="21182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Изучить литературу о жизни поэта</a:t>
            </a:r>
            <a:endParaRPr lang="en-US" sz="1700" dirty="0"/>
          </a:p>
        </p:txBody>
      </p:sp>
      <p:sp>
        <p:nvSpPr>
          <p:cNvPr id="13" name="task 2"/>
          <p:cNvSpPr/>
          <p:nvPr/>
        </p:nvSpPr>
        <p:spPr>
          <a:xfrm>
            <a:off x="8336128" y="1325880"/>
            <a:ext cx="33069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4" name="task badge 2"/>
          <p:cNvSpPr/>
          <p:nvPr/>
        </p:nvSpPr>
        <p:spPr>
          <a:xfrm>
            <a:off x="8564728" y="1783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56472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9341968" y="1325880"/>
            <a:ext cx="21182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Рассмотреть историю акмеизма и роль в нём Гумилёва</a:t>
            </a:r>
            <a:endParaRPr lang="en-US" sz="1700" dirty="0"/>
          </a:p>
        </p:txBody>
      </p:sp>
      <p:sp>
        <p:nvSpPr>
          <p:cNvPr id="17" name="task 3"/>
          <p:cNvSpPr/>
          <p:nvPr/>
        </p:nvSpPr>
        <p:spPr>
          <a:xfrm>
            <a:off x="4754880" y="3008376"/>
            <a:ext cx="33069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8" name="task badge 3"/>
          <p:cNvSpPr/>
          <p:nvPr/>
        </p:nvSpPr>
        <p:spPr>
          <a:xfrm>
            <a:off x="4983480" y="34655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983480" y="3465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760720" y="3008376"/>
            <a:ext cx="21182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Проанализировать стихотворения разных лет</a:t>
            </a:r>
            <a:endParaRPr lang="en-US" sz="1700" dirty="0"/>
          </a:p>
        </p:txBody>
      </p:sp>
      <p:sp>
        <p:nvSpPr>
          <p:cNvPr id="21" name="task 4"/>
          <p:cNvSpPr/>
          <p:nvPr/>
        </p:nvSpPr>
        <p:spPr>
          <a:xfrm>
            <a:off x="8336128" y="3008376"/>
            <a:ext cx="33069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2" name="task badge 4"/>
          <p:cNvSpPr/>
          <p:nvPr/>
        </p:nvSpPr>
        <p:spPr>
          <a:xfrm>
            <a:off x="8564728" y="34655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564728" y="3465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9341968" y="3008376"/>
            <a:ext cx="21182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Проследить эволюцию лирического героя</a:t>
            </a:r>
            <a:endParaRPr lang="en-US" sz="1700" dirty="0"/>
          </a:p>
        </p:txBody>
      </p:sp>
      <p:sp>
        <p:nvSpPr>
          <p:cNvPr id="25" name="task 5"/>
          <p:cNvSpPr/>
          <p:nvPr/>
        </p:nvSpPr>
        <p:spPr>
          <a:xfrm>
            <a:off x="4754880" y="4690872"/>
            <a:ext cx="33069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6" name="task badge 5"/>
          <p:cNvSpPr/>
          <p:nvPr/>
        </p:nvSpPr>
        <p:spPr>
          <a:xfrm>
            <a:off x="4983480" y="514807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983480" y="5148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5760720" y="4690872"/>
            <a:ext cx="21182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Систематизировать материал в таблицах</a:t>
            </a:r>
            <a:endParaRPr lang="en-US" sz="1700" dirty="0"/>
          </a:p>
        </p:txBody>
      </p:sp>
      <p:sp>
        <p:nvSpPr>
          <p:cNvPr id="29" name="task 6"/>
          <p:cNvSpPr/>
          <p:nvPr/>
        </p:nvSpPr>
        <p:spPr>
          <a:xfrm>
            <a:off x="8336128" y="4690872"/>
            <a:ext cx="33069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30" name="task badge 6"/>
          <p:cNvSpPr/>
          <p:nvPr/>
        </p:nvSpPr>
        <p:spPr>
          <a:xfrm>
            <a:off x="8564728" y="514807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8564728" y="5148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9341968" y="4690872"/>
            <a:ext cx="21182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Создать презентацию для защиты проекта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Объект, предмет и гипотеза</a:t>
            </a:r>
            <a:endParaRPr lang="en-US" sz="3600" dirty="0"/>
          </a:p>
        </p:txBody>
      </p:sp>
      <p:sp>
        <p:nvSpPr>
          <p:cNvPr id="4" name="object card"/>
          <p:cNvSpPr/>
          <p:nvPr/>
        </p:nvSpPr>
        <p:spPr>
          <a:xfrm>
            <a:off x="548640" y="1325880"/>
            <a:ext cx="4206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Объект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поэзия Серебряного века</a:t>
            </a:r>
            <a:endParaRPr lang="en-US" sz="1800" dirty="0"/>
          </a:p>
        </p:txBody>
      </p:sp>
      <p:sp>
        <p:nvSpPr>
          <p:cNvPr id="6" name="subject card"/>
          <p:cNvSpPr/>
          <p:nvPr/>
        </p:nvSpPr>
        <p:spPr>
          <a:xfrm>
            <a:off x="548640" y="2834640"/>
            <a:ext cx="4206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926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Предмет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жизнь и творчество Н. С. Гумилёва, образ лирического героя его стихов</a:t>
            </a:r>
            <a:endParaRPr lang="en-US" sz="1800" dirty="0"/>
          </a:p>
        </p:txBody>
      </p:sp>
      <p:sp>
        <p:nvSpPr>
          <p:cNvPr id="8" name="hypothesis card"/>
          <p:cNvSpPr/>
          <p:nvPr/>
        </p:nvSpPr>
        <p:spPr>
          <a:xfrm>
            <a:off x="5074920" y="1325880"/>
            <a:ext cx="6568135" cy="3108960"/>
          </a:xfrm>
          <a:prstGeom prst="roundRect">
            <a:avLst>
              <a:gd name="adj" fmla="val 2353"/>
            </a:avLst>
          </a:prstGeom>
          <a:solidFill>
            <a:schemeClr val="accent5"/>
          </a:solidFill>
          <a:ln/>
        </p:spPr>
      </p:sp>
      <p:sp>
        <p:nvSpPr>
          <p:cNvPr id="9" name="hypothesis circle"/>
          <p:cNvSpPr/>
          <p:nvPr/>
        </p:nvSpPr>
        <p:spPr>
          <a:xfrm>
            <a:off x="5394960" y="15544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hypothesis glyph" descr="hypothe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5894" y="171541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93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2468880"/>
            <a:ext cx="5928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Путешествия в Африку и Первая мировая война сформировали главный образ поэзии Гумилёва — сильного человека, идущего навстречу неизведанному. От сборника к сборнику этот образ углубляется: от «конквистадора» — к поэту-мыслителю.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754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Методы исследования</a:t>
            </a:r>
            <a:endParaRPr lang="en-US" sz="2000" dirty="0"/>
          </a:p>
        </p:txBody>
      </p:sp>
      <p:sp>
        <p:nvSpPr>
          <p:cNvPr id="14" name="method Анализ литературы"/>
          <p:cNvSpPr/>
          <p:nvPr/>
        </p:nvSpPr>
        <p:spPr>
          <a:xfrm>
            <a:off x="548640" y="5303520"/>
            <a:ext cx="2072579" cy="685800"/>
          </a:xfrm>
          <a:prstGeom prst="roundRect">
            <a:avLst>
              <a:gd name="adj" fmla="val 49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5303520"/>
            <a:ext cx="20725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Анализ литературы</a:t>
            </a:r>
            <a:endParaRPr lang="en-US" sz="1600" dirty="0"/>
          </a:p>
        </p:txBody>
      </p:sp>
      <p:sp>
        <p:nvSpPr>
          <p:cNvPr id="16" name="method Анализ текста"/>
          <p:cNvSpPr/>
          <p:nvPr/>
        </p:nvSpPr>
        <p:spPr>
          <a:xfrm>
            <a:off x="2804099" y="5303520"/>
            <a:ext cx="2072579" cy="685800"/>
          </a:xfrm>
          <a:prstGeom prst="roundRect">
            <a:avLst>
              <a:gd name="adj" fmla="val 49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804099" y="5303520"/>
            <a:ext cx="20725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Анализ текста</a:t>
            </a:r>
            <a:endParaRPr lang="en-US" sz="1600" dirty="0"/>
          </a:p>
        </p:txBody>
      </p:sp>
      <p:sp>
        <p:nvSpPr>
          <p:cNvPr id="18" name="method Сравнение"/>
          <p:cNvSpPr/>
          <p:nvPr/>
        </p:nvSpPr>
        <p:spPr>
          <a:xfrm>
            <a:off x="5059558" y="5303520"/>
            <a:ext cx="2072579" cy="685800"/>
          </a:xfrm>
          <a:prstGeom prst="roundRect">
            <a:avLst>
              <a:gd name="adj" fmla="val 49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059558" y="5303520"/>
            <a:ext cx="20725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Сравнение</a:t>
            </a:r>
            <a:endParaRPr lang="en-US" sz="1600" dirty="0"/>
          </a:p>
        </p:txBody>
      </p:sp>
      <p:sp>
        <p:nvSpPr>
          <p:cNvPr id="20" name="method Хронологический метод"/>
          <p:cNvSpPr/>
          <p:nvPr/>
        </p:nvSpPr>
        <p:spPr>
          <a:xfrm>
            <a:off x="7315017" y="5303520"/>
            <a:ext cx="2072579" cy="685800"/>
          </a:xfrm>
          <a:prstGeom prst="roundRect">
            <a:avLst>
              <a:gd name="adj" fmla="val 49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15017" y="5303520"/>
            <a:ext cx="20725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Хронологический метод</a:t>
            </a:r>
            <a:endParaRPr lang="en-US" sz="1600" dirty="0"/>
          </a:p>
        </p:txBody>
      </p:sp>
      <p:sp>
        <p:nvSpPr>
          <p:cNvPr id="22" name="method Обобщение"/>
          <p:cNvSpPr/>
          <p:nvPr/>
        </p:nvSpPr>
        <p:spPr>
          <a:xfrm>
            <a:off x="9570476" y="5303520"/>
            <a:ext cx="2072579" cy="685800"/>
          </a:xfrm>
          <a:prstGeom prst="roundRect">
            <a:avLst>
              <a:gd name="adj" fmla="val 49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570476" y="5303520"/>
            <a:ext cx="20725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Обобщение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Хронология жизни и творчества</a:t>
            </a:r>
            <a:endParaRPr lang="en-US" sz="3600" dirty="0"/>
          </a:p>
        </p:txBody>
      </p:sp>
      <p:sp>
        <p:nvSpPr>
          <p:cNvPr id="4" name="timeline axis"/>
          <p:cNvSpPr/>
          <p:nvPr/>
        </p:nvSpPr>
        <p:spPr>
          <a:xfrm>
            <a:off x="548640" y="3218688"/>
            <a:ext cx="11094415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node 1886"/>
          <p:cNvSpPr/>
          <p:nvPr/>
        </p:nvSpPr>
        <p:spPr>
          <a:xfrm>
            <a:off x="1086593" y="3090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ick 1886"/>
          <p:cNvSpPr/>
          <p:nvPr/>
        </p:nvSpPr>
        <p:spPr>
          <a:xfrm>
            <a:off x="1242041" y="2587752"/>
            <a:ext cx="0" cy="47548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0040" y="1234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1886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Рождение в Кронштадте</a:t>
            </a:r>
            <a:endParaRPr lang="en-US" sz="1600" dirty="0"/>
          </a:p>
        </p:txBody>
      </p:sp>
      <p:sp>
        <p:nvSpPr>
          <p:cNvPr id="8" name="node 1905"/>
          <p:cNvSpPr/>
          <p:nvPr/>
        </p:nvSpPr>
        <p:spPr>
          <a:xfrm>
            <a:off x="2473395" y="3090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ick 1905"/>
          <p:cNvSpPr/>
          <p:nvPr/>
        </p:nvSpPr>
        <p:spPr>
          <a:xfrm>
            <a:off x="2628843" y="3429000"/>
            <a:ext cx="0" cy="47548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85843" y="3977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1905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Первый сборник «Путь конквистадоров»</a:t>
            </a:r>
            <a:endParaRPr lang="en-US" sz="1600" dirty="0"/>
          </a:p>
        </p:txBody>
      </p:sp>
      <p:sp>
        <p:nvSpPr>
          <p:cNvPr id="11" name="node 1907–1913"/>
          <p:cNvSpPr/>
          <p:nvPr/>
        </p:nvSpPr>
        <p:spPr>
          <a:xfrm>
            <a:off x="3860197" y="3090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ick 1907–1913"/>
          <p:cNvSpPr/>
          <p:nvPr/>
        </p:nvSpPr>
        <p:spPr>
          <a:xfrm>
            <a:off x="4015645" y="2587752"/>
            <a:ext cx="0" cy="47548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72645" y="1234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1907–1913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Четыре путешествия в Африку</a:t>
            </a:r>
            <a:endParaRPr lang="en-US" sz="1600" dirty="0"/>
          </a:p>
        </p:txBody>
      </p:sp>
      <p:sp>
        <p:nvSpPr>
          <p:cNvPr id="14" name="node 1910"/>
          <p:cNvSpPr/>
          <p:nvPr/>
        </p:nvSpPr>
        <p:spPr>
          <a:xfrm>
            <a:off x="5246999" y="3090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ick 1910"/>
          <p:cNvSpPr/>
          <p:nvPr/>
        </p:nvSpPr>
        <p:spPr>
          <a:xfrm>
            <a:off x="5402447" y="3429000"/>
            <a:ext cx="0" cy="47548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59447" y="3977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1910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Брак с Анной Ахматовой, «Жемчуга»</a:t>
            </a:r>
            <a:endParaRPr lang="en-US" sz="1600" dirty="0"/>
          </a:p>
        </p:txBody>
      </p:sp>
      <p:sp>
        <p:nvSpPr>
          <p:cNvPr id="17" name="node 1911"/>
          <p:cNvSpPr/>
          <p:nvPr/>
        </p:nvSpPr>
        <p:spPr>
          <a:xfrm>
            <a:off x="6633801" y="3090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ick 1911"/>
          <p:cNvSpPr/>
          <p:nvPr/>
        </p:nvSpPr>
        <p:spPr>
          <a:xfrm>
            <a:off x="6789249" y="2587752"/>
            <a:ext cx="0" cy="47548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46249" y="1234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1911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Основание «Цеха поэтов»</a:t>
            </a:r>
            <a:endParaRPr lang="en-US" sz="1600" dirty="0"/>
          </a:p>
        </p:txBody>
      </p:sp>
      <p:sp>
        <p:nvSpPr>
          <p:cNvPr id="20" name="node 1914"/>
          <p:cNvSpPr/>
          <p:nvPr/>
        </p:nvSpPr>
        <p:spPr>
          <a:xfrm>
            <a:off x="8020602" y="3090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ick 1914"/>
          <p:cNvSpPr/>
          <p:nvPr/>
        </p:nvSpPr>
        <p:spPr>
          <a:xfrm>
            <a:off x="8176050" y="3429000"/>
            <a:ext cx="0" cy="47548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33050" y="3977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1914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Доброволец на фронте</a:t>
            </a:r>
            <a:endParaRPr lang="en-US" sz="1600" dirty="0"/>
          </a:p>
        </p:txBody>
      </p:sp>
      <p:sp>
        <p:nvSpPr>
          <p:cNvPr id="23" name="node 1921"/>
          <p:cNvSpPr/>
          <p:nvPr/>
        </p:nvSpPr>
        <p:spPr>
          <a:xfrm>
            <a:off x="9407404" y="3090672"/>
            <a:ext cx="310896" cy="310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4" name="tick 1921"/>
          <p:cNvSpPr/>
          <p:nvPr/>
        </p:nvSpPr>
        <p:spPr>
          <a:xfrm>
            <a:off x="9562852" y="2587752"/>
            <a:ext cx="0" cy="47548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19852" y="1234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1921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«Огненный столп», арест и гибель</a:t>
            </a:r>
            <a:endParaRPr lang="en-US" sz="1600" dirty="0"/>
          </a:p>
        </p:txBody>
      </p:sp>
      <p:sp>
        <p:nvSpPr>
          <p:cNvPr id="26" name="node 1992"/>
          <p:cNvSpPr/>
          <p:nvPr/>
        </p:nvSpPr>
        <p:spPr>
          <a:xfrm>
            <a:off x="10794206" y="3090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7" name="tick 1992"/>
          <p:cNvSpPr/>
          <p:nvPr/>
        </p:nvSpPr>
        <p:spPr>
          <a:xfrm>
            <a:off x="10949654" y="3429000"/>
            <a:ext cx="0" cy="47548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85655" y="3977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1992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Официальная реабилитация</a:t>
            </a:r>
            <a:endParaRPr lang="en-US" sz="1600" dirty="0"/>
          </a:p>
        </p:txBody>
      </p:sp>
      <p:sp>
        <p:nvSpPr>
          <p:cNvPr id="29" name="stat лет жизни"/>
          <p:cNvSpPr/>
          <p:nvPr/>
        </p:nvSpPr>
        <p:spPr>
          <a:xfrm>
            <a:off x="640080" y="5257800"/>
            <a:ext cx="2590724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7240" y="525780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600" dirty="0"/>
          </a:p>
        </p:txBody>
      </p:sp>
      <p:sp>
        <p:nvSpPr>
          <p:cNvPr id="31" name="Text 28"/>
          <p:cNvSpPr txBox="1"/>
          <p:nvPr/>
        </p:nvSpPr>
        <p:spPr>
          <a:xfrm>
            <a:off x="1737360" y="5257800"/>
            <a:ext cx="13562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лет жизни</a:t>
            </a:r>
            <a:endParaRPr lang="en-US" sz="1600" dirty="0"/>
          </a:p>
        </p:txBody>
      </p:sp>
      <p:sp>
        <p:nvSpPr>
          <p:cNvPr id="32" name="stat сборников стихов"/>
          <p:cNvSpPr/>
          <p:nvPr/>
        </p:nvSpPr>
        <p:spPr>
          <a:xfrm>
            <a:off x="3413684" y="5257800"/>
            <a:ext cx="2590724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550844" y="525780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sp>
        <p:nvSpPr>
          <p:cNvPr id="34" name="Text 31"/>
          <p:cNvSpPr txBox="1"/>
          <p:nvPr/>
        </p:nvSpPr>
        <p:spPr>
          <a:xfrm>
            <a:off x="4510964" y="5257800"/>
            <a:ext cx="13562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сборников стихов</a:t>
            </a:r>
            <a:endParaRPr lang="en-US" sz="1600" dirty="0"/>
          </a:p>
        </p:txBody>
      </p:sp>
      <p:sp>
        <p:nvSpPr>
          <p:cNvPr id="35" name="stat путешествия в Африку"/>
          <p:cNvSpPr/>
          <p:nvPr/>
        </p:nvSpPr>
        <p:spPr>
          <a:xfrm>
            <a:off x="6187288" y="5257800"/>
            <a:ext cx="2590724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324448" y="525780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37" name="Text 34"/>
          <p:cNvSpPr txBox="1"/>
          <p:nvPr/>
        </p:nvSpPr>
        <p:spPr>
          <a:xfrm>
            <a:off x="7284568" y="5257800"/>
            <a:ext cx="13562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путешествия в Африку</a:t>
            </a:r>
            <a:endParaRPr lang="en-US" sz="1600" dirty="0"/>
          </a:p>
        </p:txBody>
      </p:sp>
      <p:sp>
        <p:nvSpPr>
          <p:cNvPr id="38" name="stat Георгиевских креста"/>
          <p:cNvSpPr/>
          <p:nvPr/>
        </p:nvSpPr>
        <p:spPr>
          <a:xfrm>
            <a:off x="8960891" y="5257800"/>
            <a:ext cx="2590724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098051" y="525780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40" name="Text 37"/>
          <p:cNvSpPr txBox="1"/>
          <p:nvPr/>
        </p:nvSpPr>
        <p:spPr>
          <a:xfrm>
            <a:off x="10058171" y="5257800"/>
            <a:ext cx="13562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Георгиевских креста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Детство и юность</a:t>
            </a:r>
            <a:endParaRPr lang="en-US" sz="3600" dirty="0"/>
          </a:p>
        </p:txBody>
      </p:sp>
      <p:sp>
        <p:nvSpPr>
          <p:cNvPr id="4" name="photo frame gum1906.jpg"/>
          <p:cNvSpPr/>
          <p:nvPr/>
        </p:nvSpPr>
        <p:spPr>
          <a:xfrm>
            <a:off x="548640" y="1307592"/>
            <a:ext cx="2871216" cy="4773168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5" name="photo gum1906.jpg" descr="Н. Гумилёв, 1906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371600"/>
            <a:ext cx="2743200" cy="464515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2648" y="6144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Н. Гумилёв, 1906</a:t>
            </a:r>
            <a:endParaRPr lang="en-US" sz="1100" dirty="0"/>
          </a:p>
        </p:txBody>
      </p:sp>
      <p:sp>
        <p:nvSpPr>
          <p:cNvPr id="7" name="Кронштадт, 1886 circle"/>
          <p:cNvSpPr/>
          <p:nvPr/>
        </p:nvSpPr>
        <p:spPr>
          <a:xfrm>
            <a:off x="393192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Кронштадт, 1886 glyph" descr="Кронштадт, 188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796" y="1522476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846320" y="1325880"/>
            <a:ext cx="6796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Кронштадт, 1886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Родился в семье корабельного врача; в детстве зачитывался Майн Ридом и Жюлем Верном</a:t>
            </a:r>
            <a:endParaRPr lang="en-US" sz="1600" dirty="0"/>
          </a:p>
        </p:txBody>
      </p:sp>
      <p:sp>
        <p:nvSpPr>
          <p:cNvPr id="10" name="Царскосельская гимназия circle"/>
          <p:cNvSpPr/>
          <p:nvPr/>
        </p:nvSpPr>
        <p:spPr>
          <a:xfrm>
            <a:off x="3931920" y="2468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Царскосельская гимназия glyph" descr="Царскосельская гимназ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796" y="261975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846320" y="2423160"/>
            <a:ext cx="6796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Царскосельская гимназия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Директор — поэт И. Ф. Анненский, первый учитель Гумилёва в поэзии</a:t>
            </a:r>
            <a:endParaRPr lang="en-US" sz="1600" dirty="0"/>
          </a:p>
        </p:txBody>
      </p:sp>
      <p:sp>
        <p:nvSpPr>
          <p:cNvPr id="13" name="1905 — «Путь конквистадоров» circle"/>
          <p:cNvSpPr/>
          <p:nvPr/>
        </p:nvSpPr>
        <p:spPr>
          <a:xfrm>
            <a:off x="3931920" y="3566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1905 — «Путь конквистадоров» glyph" descr="1905 — «Путь конквистадоров»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796" y="3717036"/>
            <a:ext cx="384048" cy="38404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846320" y="3520440"/>
            <a:ext cx="6796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1905 — «Путь конквистадоров»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Первый сборник стихов вышел, когда автору было 19 лет</a:t>
            </a:r>
            <a:endParaRPr lang="en-US" sz="1600" dirty="0"/>
          </a:p>
        </p:txBody>
      </p:sp>
      <p:sp>
        <p:nvSpPr>
          <p:cNvPr id="16" name="quote card"/>
          <p:cNvSpPr/>
          <p:nvPr/>
        </p:nvSpPr>
        <p:spPr>
          <a:xfrm>
            <a:off x="3931920" y="4709160"/>
            <a:ext cx="7711135" cy="1307592"/>
          </a:xfrm>
          <a:prstGeom prst="roundRect">
            <a:avLst>
              <a:gd name="adj" fmla="val 5594"/>
            </a:avLst>
          </a:prstGeom>
          <a:solidFill>
            <a:schemeClr val="bg2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4160520" y="469087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6000" dirty="0"/>
          </a:p>
        </p:txBody>
      </p:sp>
      <p:sp>
        <p:nvSpPr>
          <p:cNvPr id="18" name="Text 11"/>
          <p:cNvSpPr txBox="1"/>
          <p:nvPr/>
        </p:nvSpPr>
        <p:spPr>
          <a:xfrm>
            <a:off x="4663440" y="4919472"/>
            <a:ext cx="6751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конквистадор в панцире железном,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весело преследую звезду…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сборник «Путь конквистадоров», 1905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Муза Дальних Странствий: Африка</a:t>
            </a:r>
            <a:endParaRPr lang="en-US" sz="3600" dirty="0"/>
          </a:p>
        </p:txBody>
      </p:sp>
      <p:sp>
        <p:nvSpPr>
          <p:cNvPr id="4" name="photo frame africa.jpg"/>
          <p:cNvSpPr/>
          <p:nvPr/>
        </p:nvSpPr>
        <p:spPr>
          <a:xfrm>
            <a:off x="6839712" y="1353312"/>
            <a:ext cx="4803343" cy="3985161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5" name="photo africa.jpg" descr="Гумилёв в Африк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417320"/>
            <a:ext cx="4675327" cy="385714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03720" y="5402481"/>
            <a:ext cx="4675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Гумилёв в Африке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34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0" dirty="0"/>
          </a:p>
        </p:txBody>
      </p:sp>
      <p:sp>
        <p:nvSpPr>
          <p:cNvPr id="8" name="Text 4"/>
          <p:cNvSpPr txBox="1"/>
          <p:nvPr/>
        </p:nvSpPr>
        <p:spPr>
          <a:xfrm>
            <a:off x="1828800" y="1371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путешествия в Африку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1907–1913: Египет, Абиссиния (Эфиопия), Сомали</a:t>
            </a:r>
            <a:endParaRPr lang="en-US" sz="1600" dirty="0"/>
          </a:p>
        </p:txBody>
      </p:sp>
      <p:sp>
        <p:nvSpPr>
          <p:cNvPr id="9" name="kunstkamera"/>
          <p:cNvSpPr/>
          <p:nvPr/>
        </p:nvSpPr>
        <p:spPr>
          <a:xfrm>
            <a:off x="548640" y="2697480"/>
            <a:ext cx="5989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0" name="expedition circle"/>
          <p:cNvSpPr/>
          <p:nvPr/>
        </p:nvSpPr>
        <p:spPr>
          <a:xfrm>
            <a:off x="777240" y="29900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expedition glyph" descr="exped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74" y="3151022"/>
            <a:ext cx="409651" cy="40965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27889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Экспедиция Академии наук, 1913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Собранная поэтом коллекция до сих пор хранится в Кунсткамере (Санкт-Петербург)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206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60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44348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…в новой обстановке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найти новые слова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из письма В. Я. Брюсову о цели путешествий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Семья и Первая мировая война</a:t>
            </a:r>
            <a:endParaRPr lang="en-US" sz="3600" dirty="0"/>
          </a:p>
        </p:txBody>
      </p:sp>
      <p:sp>
        <p:nvSpPr>
          <p:cNvPr id="4" name="photo frame family1915.jpg"/>
          <p:cNvSpPr/>
          <p:nvPr/>
        </p:nvSpPr>
        <p:spPr>
          <a:xfrm>
            <a:off x="548640" y="1353312"/>
            <a:ext cx="5248656" cy="3795674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5" name="photo family1915.jpg" descr="Н. Гумилёв, А. Ахматова и их сын Лев, 1915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417320"/>
            <a:ext cx="5120640" cy="366765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2648" y="521299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Н. Гумилёв, А. Ахматова и их сын Лев, 1915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172200" y="1325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1910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1325880"/>
            <a:ext cx="3962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брак с Анной Ахматовой; в 1912 г. родился сын Лев — будущий историк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2194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1914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194560"/>
            <a:ext cx="3962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ушёл на фронт добровольцем, служил в кавалерии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72200" y="3063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3063240"/>
            <a:ext cx="3962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Георгиевских креста за храбрость</a:t>
            </a:r>
            <a:endParaRPr lang="en-US" sz="1700" dirty="0"/>
          </a:p>
        </p:txBody>
      </p:sp>
      <p:sp>
        <p:nvSpPr>
          <p:cNvPr id="13" name="quote card"/>
          <p:cNvSpPr/>
          <p:nvPr/>
        </p:nvSpPr>
        <p:spPr>
          <a:xfrm>
            <a:off x="6172200" y="3931920"/>
            <a:ext cx="5470855" cy="1216152"/>
          </a:xfrm>
          <a:prstGeom prst="roundRect">
            <a:avLst>
              <a:gd name="adj" fmla="val 6015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00800" y="3886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6000" dirty="0"/>
          </a:p>
        </p:txBody>
      </p:sp>
      <p:sp>
        <p:nvSpPr>
          <p:cNvPr id="15" name="Text 11"/>
          <p:cNvSpPr txBox="1"/>
          <p:nvPr/>
        </p:nvSpPr>
        <p:spPr>
          <a:xfrm>
            <a:off x="6903720" y="411480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четвёртый день наступаем,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не ели четыре дня…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«Наступление», 1914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Гумилёв — основатель акмеизма</a:t>
            </a:r>
            <a:endParaRPr lang="en-US" sz="3600" dirty="0"/>
          </a:p>
        </p:txBody>
      </p:sp>
      <p:sp>
        <p:nvSpPr>
          <p:cNvPr id="4" name="fact 1911"/>
          <p:cNvSpPr/>
          <p:nvPr/>
        </p:nvSpPr>
        <p:spPr>
          <a:xfrm>
            <a:off x="548640" y="1280160"/>
            <a:ext cx="3576218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1911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«Цех поэтов» (с С. Городецким)</a:t>
            </a:r>
            <a:endParaRPr lang="en-US" sz="1500" dirty="0"/>
          </a:p>
        </p:txBody>
      </p:sp>
      <p:sp>
        <p:nvSpPr>
          <p:cNvPr id="6" name="fact 1913"/>
          <p:cNvSpPr/>
          <p:nvPr/>
        </p:nvSpPr>
        <p:spPr>
          <a:xfrm>
            <a:off x="4307738" y="1280160"/>
            <a:ext cx="3576218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490618" y="128016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1913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манифест «Наследие символизма и акмеизм»</a:t>
            </a:r>
            <a:endParaRPr lang="en-US" sz="1500" dirty="0"/>
          </a:p>
        </p:txBody>
      </p:sp>
      <p:sp>
        <p:nvSpPr>
          <p:cNvPr id="8" name="fact акме (греч.)"/>
          <p:cNvSpPr/>
          <p:nvPr/>
        </p:nvSpPr>
        <p:spPr>
          <a:xfrm>
            <a:off x="8066837" y="1280160"/>
            <a:ext cx="3576218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49717" y="128016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акме (греч.)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высшая степень, расцвет</a:t>
            </a:r>
            <a:endParaRPr lang="en-US" sz="1500" dirty="0"/>
          </a:p>
        </p:txBody>
      </p:sp>
      <p:sp>
        <p:nvSpPr>
          <p:cNvPr id="10" name="column Символизм"/>
          <p:cNvSpPr/>
          <p:nvPr/>
        </p:nvSpPr>
        <p:spPr>
          <a:xfrm>
            <a:off x="1965960" y="2240280"/>
            <a:ext cx="4769968" cy="3977640"/>
          </a:xfrm>
          <a:prstGeom prst="roundRect">
            <a:avLst>
              <a:gd name="adj" fmla="val 1839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240280" y="2377440"/>
            <a:ext cx="422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Символизм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Брюсов, Бальмонт, Блок, Белый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32918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Видимый мир — лишь отражение высшего, «иного» мира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402336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Символ, намёк, многозначность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47548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Музыка стиха важнее смысла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548640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Пророк, посредник между мирами</a:t>
            </a:r>
            <a:endParaRPr lang="en-US" sz="1600" dirty="0"/>
          </a:p>
        </p:txBody>
      </p:sp>
      <p:sp>
        <p:nvSpPr>
          <p:cNvPr id="16" name="column Акмеизм"/>
          <p:cNvSpPr/>
          <p:nvPr/>
        </p:nvSpPr>
        <p:spPr>
          <a:xfrm>
            <a:off x="6873088" y="2240280"/>
            <a:ext cx="4769968" cy="3977640"/>
          </a:xfrm>
          <a:prstGeom prst="roundRect">
            <a:avLst>
              <a:gd name="adj" fmla="val 1839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47408" y="2377440"/>
            <a:ext cx="422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Акмеизм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Гумилёв, Ахматова, Мандельштам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147408" y="32918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Ценен сам земной мир: «самоценность каждого явления»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147408" y="402336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Предмет, точная деталь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147408" y="47548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Ясность и точность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147408" y="548640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Мастер, «ремесленник» цеха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2918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Мир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0233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Образ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7548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Слово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4864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Поэт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Девять прижизненных сборников</a:t>
            </a:r>
            <a:endParaRPr lang="en-US" sz="3600" dirty="0"/>
          </a:p>
        </p:txBody>
      </p:sp>
      <p:sp>
        <p:nvSpPr>
          <p:cNvPr id="4" name="book Путь конквистадоров"/>
          <p:cNvSpPr/>
          <p:nvPr/>
        </p:nvSpPr>
        <p:spPr>
          <a:xfrm>
            <a:off x="548640" y="1325880"/>
            <a:ext cx="354573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4356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1905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83080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«Путь конквистадоров»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50592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романтическая мечта</a:t>
            </a:r>
            <a:endParaRPr lang="en-US" sz="1400" dirty="0"/>
          </a:p>
        </p:txBody>
      </p:sp>
      <p:sp>
        <p:nvSpPr>
          <p:cNvPr id="8" name="book Романтические цветы"/>
          <p:cNvSpPr/>
          <p:nvPr/>
        </p:nvSpPr>
        <p:spPr>
          <a:xfrm>
            <a:off x="4322978" y="1325880"/>
            <a:ext cx="3545738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51578" y="14356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1908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51578" y="1783080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«Романтические цветы»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51578" y="2450592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«Жираф», «Озеро Чад»</a:t>
            </a:r>
            <a:endParaRPr lang="en-US" sz="1400" dirty="0"/>
          </a:p>
        </p:txBody>
      </p:sp>
      <p:sp>
        <p:nvSpPr>
          <p:cNvPr id="12" name="book Жемчуга"/>
          <p:cNvSpPr/>
          <p:nvPr/>
        </p:nvSpPr>
        <p:spPr>
          <a:xfrm>
            <a:off x="8097317" y="1325880"/>
            <a:ext cx="3545738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25917" y="14356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1910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325917" y="1783080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«Жемчуга»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25917" y="2450592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«Капитаны», «Волшебная скрипка»</a:t>
            </a:r>
            <a:endParaRPr lang="en-US" sz="1400" dirty="0"/>
          </a:p>
        </p:txBody>
      </p:sp>
      <p:sp>
        <p:nvSpPr>
          <p:cNvPr id="16" name="book Чужое небо"/>
          <p:cNvSpPr/>
          <p:nvPr/>
        </p:nvSpPr>
        <p:spPr>
          <a:xfrm>
            <a:off x="548640" y="2999232"/>
            <a:ext cx="354573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1912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45643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«Чужое небо»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123944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акмеистическая ясность</a:t>
            </a:r>
            <a:endParaRPr lang="en-US" sz="1400" dirty="0"/>
          </a:p>
        </p:txBody>
      </p:sp>
      <p:sp>
        <p:nvSpPr>
          <p:cNvPr id="20" name="book Колчан"/>
          <p:cNvSpPr/>
          <p:nvPr/>
        </p:nvSpPr>
        <p:spPr>
          <a:xfrm>
            <a:off x="4322978" y="2999232"/>
            <a:ext cx="354573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51578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1916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4551578" y="345643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«Колчан»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551578" y="4123944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война как испытание</a:t>
            </a:r>
            <a:endParaRPr lang="en-US" sz="1400" dirty="0"/>
          </a:p>
        </p:txBody>
      </p:sp>
      <p:sp>
        <p:nvSpPr>
          <p:cNvPr id="24" name="book Костёр"/>
          <p:cNvSpPr/>
          <p:nvPr/>
        </p:nvSpPr>
        <p:spPr>
          <a:xfrm>
            <a:off x="8097317" y="2999232"/>
            <a:ext cx="354573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325917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1918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8325917" y="345643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«Костёр»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325917" y="4123944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природа, родина, «Я и вы»</a:t>
            </a:r>
            <a:endParaRPr lang="en-US" sz="1400" dirty="0"/>
          </a:p>
        </p:txBody>
      </p:sp>
      <p:sp>
        <p:nvSpPr>
          <p:cNvPr id="28" name="book Фарфоровый павильон"/>
          <p:cNvSpPr/>
          <p:nvPr/>
        </p:nvSpPr>
        <p:spPr>
          <a:xfrm>
            <a:off x="548640" y="4672584"/>
            <a:ext cx="354573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77240" y="4782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1918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129784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«Фарфоровый павильон»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5797296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китайские мотивы</a:t>
            </a:r>
            <a:endParaRPr lang="en-US" sz="1400" dirty="0"/>
          </a:p>
        </p:txBody>
      </p:sp>
      <p:sp>
        <p:nvSpPr>
          <p:cNvPr id="32" name="book Шатёр"/>
          <p:cNvSpPr/>
          <p:nvPr/>
        </p:nvSpPr>
        <p:spPr>
          <a:xfrm>
            <a:off x="4322978" y="4672584"/>
            <a:ext cx="354573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551578" y="4782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1921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4551578" y="5129784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«Шатёр»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4551578" y="5797296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Африка, «география в стихах»</a:t>
            </a:r>
            <a:endParaRPr lang="en-US" sz="1400" dirty="0"/>
          </a:p>
        </p:txBody>
      </p:sp>
      <p:sp>
        <p:nvSpPr>
          <p:cNvPr id="36" name="book Огненный столп"/>
          <p:cNvSpPr/>
          <p:nvPr/>
        </p:nvSpPr>
        <p:spPr>
          <a:xfrm>
            <a:off x="8097317" y="4672584"/>
            <a:ext cx="3545738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325917" y="4782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1921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8325917" y="5129784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«Огненный столп»</a:t>
            </a:r>
            <a:endParaRPr lang="en-US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8325917" y="5797296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«Память», «Шестое чувство»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Тёмным выделены сборники, стихотворения из которых разобраны в проекте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«Жираф» (1907): поэзия мечты</a:t>
            </a:r>
            <a:endParaRPr lang="en-US" sz="3600" dirty="0"/>
          </a:p>
        </p:txBody>
      </p:sp>
      <p:sp>
        <p:nvSpPr>
          <p:cNvPr id="4" name="poem card"/>
          <p:cNvSpPr/>
          <p:nvPr/>
        </p:nvSpPr>
        <p:spPr>
          <a:xfrm>
            <a:off x="548640" y="1325880"/>
            <a:ext cx="667512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691640"/>
            <a:ext cx="5715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Сегодня, я вижу, особенно грустен твой взгляд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руки особенно тонки, колени обняв.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Послушай: далёко, далёко, на озере Чад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Изысканный бродит жираф.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…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Ты плачешь? Послушай… далёко, на озере Чад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Изысканный бродит жираф.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сборник «Романтические цветы», 1908</a:t>
            </a:r>
            <a:endParaRPr lang="en-US" sz="1700" dirty="0"/>
          </a:p>
        </p:txBody>
      </p:sp>
      <p:sp>
        <p:nvSpPr>
          <p:cNvPr id="7" name="Мир мечты circle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Мир мечты glyph" descr="Мир мечт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6058" y="1512418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03920" y="1325880"/>
            <a:ext cx="313913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Мир мечты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Африка — мир красоты и свободы: «волшебный узор», «цветные паруса корабля», «радостный птичий полёт»</a:t>
            </a:r>
            <a:endParaRPr lang="en-US" sz="1600" dirty="0"/>
          </a:p>
        </p:txBody>
      </p:sp>
      <p:sp>
        <p:nvSpPr>
          <p:cNvPr id="10" name="Мир обыденности circle"/>
          <p:cNvSpPr/>
          <p:nvPr/>
        </p:nvSpPr>
        <p:spPr>
          <a:xfrm>
            <a:off x="7635240" y="3017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Мир обыденности glyph" descr="Мир обыденност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058" y="3158338"/>
            <a:ext cx="358445" cy="35844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03920" y="2971800"/>
            <a:ext cx="313913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Мир обыденности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Героиня «вдыхала тяжёлый туман» и не верит «во что-нибудь, кроме дождя»</a:t>
            </a:r>
            <a:endParaRPr lang="en-US" sz="1600" dirty="0"/>
          </a:p>
        </p:txBody>
      </p:sp>
      <p:sp>
        <p:nvSpPr>
          <p:cNvPr id="13" name="Композиция и ритм circle"/>
          <p:cNvSpPr/>
          <p:nvPr/>
        </p:nvSpPr>
        <p:spPr>
          <a:xfrm>
            <a:off x="7635240" y="4663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Композиция и ритм glyph" descr="Композиция и рит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58" y="4804258"/>
            <a:ext cx="358445" cy="35844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03920" y="4617720"/>
            <a:ext cx="313913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Композиция и ритм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Кольцевая композиция и плавный амфибрахий: мечта существует, даже если в неё не верят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«Капитаны» (1910): образ героя</a:t>
            </a:r>
            <a:endParaRPr lang="en-US" sz="3600" dirty="0"/>
          </a:p>
        </p:txBody>
      </p:sp>
      <p:sp>
        <p:nvSpPr>
          <p:cNvPr id="4" name="poem band"/>
          <p:cNvSpPr/>
          <p:nvPr/>
        </p:nvSpPr>
        <p:spPr>
          <a:xfrm>
            <a:off x="548640" y="1325880"/>
            <a:ext cx="11094415" cy="2148840"/>
          </a:xfrm>
          <a:prstGeom prst="roundRect">
            <a:avLst>
              <a:gd name="adj" fmla="val 3404"/>
            </a:avLst>
          </a:prstGeom>
          <a:solidFill>
            <a:schemeClr val="accent5"/>
          </a:solidFill>
          <a:ln/>
        </p:spPr>
      </p:sp>
      <p:sp>
        <p:nvSpPr>
          <p:cNvPr id="5" name="sailboat circle"/>
          <p:cNvSpPr/>
          <p:nvPr/>
        </p:nvSpPr>
        <p:spPr>
          <a:xfrm>
            <a:off x="10317175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sailboat glyph" descr="sailb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0" y="1912925"/>
            <a:ext cx="563270" cy="56327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1325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60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1554480"/>
            <a:ext cx="7269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Быстрокрылых ведут капитаны,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Открыватели новых земель,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кого не страшны ураганы,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изведал мальстремы и мель…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цикл «Капитаны», сборник «Жемчуга»</a:t>
            </a:r>
            <a:endParaRPr lang="en-US" sz="1900" dirty="0"/>
          </a:p>
        </p:txBody>
      </p:sp>
      <p:sp>
        <p:nvSpPr>
          <p:cNvPr id="9" name="card Герой"/>
          <p:cNvSpPr/>
          <p:nvPr/>
        </p:nvSpPr>
        <p:spPr>
          <a:xfrm>
            <a:off x="548640" y="3749040"/>
            <a:ext cx="3545738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22960" y="39319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Герой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480560"/>
            <a:ext cx="2997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Человек действия, первооткрыватель: «Ни один пред грозой не трепещет, / Ни один не свернёт паруса»</a:t>
            </a:r>
            <a:endParaRPr lang="en-US" sz="1800" dirty="0"/>
          </a:p>
        </p:txBody>
      </p:sp>
      <p:sp>
        <p:nvSpPr>
          <p:cNvPr id="12" name="card Мореплаватели"/>
          <p:cNvSpPr/>
          <p:nvPr/>
        </p:nvSpPr>
        <p:spPr>
          <a:xfrm>
            <a:off x="4322978" y="3749040"/>
            <a:ext cx="3545738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597298" y="39319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Мореплаватели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597298" y="4480560"/>
            <a:ext cx="2997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Кук, Лаперуз, да Гама, Колумб — образцы тех, кто «дерзает», «хочет», «ищет»</a:t>
            </a:r>
            <a:endParaRPr lang="en-US" sz="1800" dirty="0"/>
          </a:p>
        </p:txBody>
      </p:sp>
      <p:sp>
        <p:nvSpPr>
          <p:cNvPr id="15" name="card Ритм"/>
          <p:cNvSpPr/>
          <p:nvPr/>
        </p:nvSpPr>
        <p:spPr>
          <a:xfrm>
            <a:off x="8097317" y="3749040"/>
            <a:ext cx="3545738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371637" y="39319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Ритм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8371637" y="4480560"/>
            <a:ext cx="2997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Чёткий анапест и торжественная интонация передают мужество и решимость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«Огненный столп» (1921): поэт-мыслитель</a:t>
            </a:r>
            <a:endParaRPr lang="en-US" sz="3600" dirty="0"/>
          </a:p>
        </p:txBody>
      </p:sp>
      <p:sp>
        <p:nvSpPr>
          <p:cNvPr id="4" name="poem «Память»"/>
          <p:cNvSpPr/>
          <p:nvPr/>
        </p:nvSpPr>
        <p:spPr>
          <a:xfrm>
            <a:off x="548640" y="1325880"/>
            <a:ext cx="3545738" cy="484632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/>
        </p:spPr>
      </p:sp>
      <p:sp>
        <p:nvSpPr>
          <p:cNvPr id="5" name="«Память» 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«Память» glyph" descr="«Память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761134"/>
            <a:ext cx="409651" cy="4096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51460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«Память»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383280"/>
            <a:ext cx="2997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«Мы меняем души, не тела»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663440"/>
            <a:ext cx="29970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Поэт оглядывается на свою жизнь и видит себя «зодчим храма»</a:t>
            </a:r>
            <a:endParaRPr lang="en-US" sz="1800" dirty="0"/>
          </a:p>
        </p:txBody>
      </p:sp>
      <p:sp>
        <p:nvSpPr>
          <p:cNvPr id="10" name="poem «Шестое чувство»"/>
          <p:cNvSpPr/>
          <p:nvPr/>
        </p:nvSpPr>
        <p:spPr>
          <a:xfrm>
            <a:off x="4322978" y="1325880"/>
            <a:ext cx="3545738" cy="484632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/>
        </p:spPr>
      </p:sp>
      <p:sp>
        <p:nvSpPr>
          <p:cNvPr id="11" name="«Шестое чувство» circle"/>
          <p:cNvSpPr/>
          <p:nvPr/>
        </p:nvSpPr>
        <p:spPr>
          <a:xfrm>
            <a:off x="4597298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«Шестое чувство» glyph" descr="«Шестое чувство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233" y="1761134"/>
            <a:ext cx="409651" cy="4096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97298" y="251460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«Шестое чувство»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4597298" y="3383280"/>
            <a:ext cx="2997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«Что делать нам с бессмертными стихами?»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597298" y="4663440"/>
            <a:ext cx="29970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Человеку мало хлеба и вина — нужно научиться понимать красоту</a:t>
            </a:r>
            <a:endParaRPr lang="en-US" sz="1800" dirty="0"/>
          </a:p>
        </p:txBody>
      </p:sp>
      <p:sp>
        <p:nvSpPr>
          <p:cNvPr id="16" name="poem «Заблудившийся трамвай»"/>
          <p:cNvSpPr/>
          <p:nvPr/>
        </p:nvSpPr>
        <p:spPr>
          <a:xfrm>
            <a:off x="8097317" y="1325880"/>
            <a:ext cx="3545738" cy="484632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/>
        </p:spPr>
      </p:sp>
      <p:sp>
        <p:nvSpPr>
          <p:cNvPr id="17" name="«Заблудившийся трамвай» circle"/>
          <p:cNvSpPr/>
          <p:nvPr/>
        </p:nvSpPr>
        <p:spPr>
          <a:xfrm>
            <a:off x="8371637" y="1600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«Заблудившийся трамвай» glyph" descr="«Заблудившийся трамвай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571" y="1761134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71637" y="251460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«Заблудившийся трамвай»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8371637" y="3383280"/>
            <a:ext cx="2997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 Индию Духа купить билет»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8371637" y="4663440"/>
            <a:ext cx="29970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Путешествие становится внутренним, духовным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Эволюция лирического героя</a:t>
            </a:r>
            <a:endParaRPr lang="en-US" sz="3600" dirty="0"/>
          </a:p>
        </p:txBody>
      </p:sp>
      <p:sp>
        <p:nvSpPr>
          <p:cNvPr id="4" name="step Конквистадор"/>
          <p:cNvSpPr/>
          <p:nvPr/>
        </p:nvSpPr>
        <p:spPr>
          <a:xfrm>
            <a:off x="548640" y="1325880"/>
            <a:ext cx="3240938" cy="3931920"/>
          </a:xfrm>
          <a:prstGeom prst="roundRect">
            <a:avLst>
              <a:gd name="adj" fmla="val 2257"/>
            </a:avLst>
          </a:prstGeom>
          <a:solidFill>
            <a:schemeClr val="bg2"/>
          </a:solidFill>
          <a:ln/>
        </p:spPr>
      </p:sp>
      <p:sp>
        <p:nvSpPr>
          <p:cNvPr id="5" name="Конквистадор circle"/>
          <p:cNvSpPr/>
          <p:nvPr/>
        </p:nvSpPr>
        <p:spPr>
          <a:xfrm>
            <a:off x="1711909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Конквистадор glyph" descr="Конквистадо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3077" y="1801368"/>
            <a:ext cx="512064" cy="5120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697480"/>
            <a:ext cx="278373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1905–1908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Конквистадор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мечта о далёких странах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6"/>
                </a:solidFill>
              </a:rPr>
              <a:t>«Путь конквистадоров», «Романтические цветы»</a:t>
            </a:r>
            <a:endParaRPr lang="en-US" sz="1600" dirty="0"/>
          </a:p>
        </p:txBody>
      </p:sp>
      <p:sp>
        <p:nvSpPr>
          <p:cNvPr id="8" name="arrow 0"/>
          <p:cNvSpPr/>
          <p:nvPr/>
        </p:nvSpPr>
        <p:spPr>
          <a:xfrm>
            <a:off x="3881018" y="3063240"/>
            <a:ext cx="502920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step Капитан и воин"/>
          <p:cNvSpPr/>
          <p:nvPr/>
        </p:nvSpPr>
        <p:spPr>
          <a:xfrm>
            <a:off x="4475378" y="1325880"/>
            <a:ext cx="3240938" cy="3931920"/>
          </a:xfrm>
          <a:prstGeom prst="roundRect">
            <a:avLst>
              <a:gd name="adj" fmla="val 2257"/>
            </a:avLst>
          </a:prstGeom>
          <a:solidFill>
            <a:schemeClr val="bg2"/>
          </a:solidFill>
          <a:ln/>
        </p:spPr>
      </p:sp>
      <p:sp>
        <p:nvSpPr>
          <p:cNvPr id="10" name="Капитан и воин circle"/>
          <p:cNvSpPr/>
          <p:nvPr/>
        </p:nvSpPr>
        <p:spPr>
          <a:xfrm>
            <a:off x="5638648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Капитан и воин glyph" descr="Капитан и вои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816" y="1801368"/>
            <a:ext cx="512064" cy="5120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03978" y="2697480"/>
            <a:ext cx="278373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1910–1918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Капитан и воин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реальные путешествия и подвиг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6"/>
                </a:solidFill>
              </a:rPr>
              <a:t>«Жемчуга», «Колчан», «Костёр»</a:t>
            </a:r>
            <a:endParaRPr lang="en-US" sz="1600" dirty="0"/>
          </a:p>
        </p:txBody>
      </p:sp>
      <p:sp>
        <p:nvSpPr>
          <p:cNvPr id="13" name="arrow 1"/>
          <p:cNvSpPr/>
          <p:nvPr/>
        </p:nvSpPr>
        <p:spPr>
          <a:xfrm>
            <a:off x="7807757" y="3063240"/>
            <a:ext cx="502920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step Зодчий и мыслитель"/>
          <p:cNvSpPr/>
          <p:nvPr/>
        </p:nvSpPr>
        <p:spPr>
          <a:xfrm>
            <a:off x="8402117" y="1325880"/>
            <a:ext cx="3240938" cy="3931920"/>
          </a:xfrm>
          <a:prstGeom prst="roundRect">
            <a:avLst>
              <a:gd name="adj" fmla="val 2257"/>
            </a:avLst>
          </a:prstGeom>
          <a:solidFill>
            <a:schemeClr val="tx2"/>
          </a:solidFill>
          <a:ln/>
        </p:spPr>
      </p:sp>
      <p:sp>
        <p:nvSpPr>
          <p:cNvPr id="15" name="Зодчий и мыслитель circle"/>
          <p:cNvSpPr/>
          <p:nvPr/>
        </p:nvSpPr>
        <p:spPr>
          <a:xfrm>
            <a:off x="9565386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Зодчий и мыслитель glyph" descr="Зодчий и мыслител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6554" y="1801368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630717" y="2697480"/>
            <a:ext cx="278373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1918–1921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Зодчий и мыслитель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accent5"/>
                </a:solidFill>
              </a:rPr>
              <a:t>поиск духовной истины и смысла Слова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«Шатёр», «Огненный столп»</a:t>
            </a:r>
            <a:endParaRPr lang="en-US" sz="1600" dirty="0"/>
          </a:p>
        </p:txBody>
      </p:sp>
      <p:sp>
        <p:nvSpPr>
          <p:cNvPr id="18" name="takeaway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822960" y="55321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Мужество остаётся неизменным — меняется цель поиска: от экзотических стран к духовной истине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Гибель и возвращение имени</a:t>
            </a:r>
            <a:endParaRPr lang="en-US" sz="3600" dirty="0"/>
          </a:p>
        </p:txBody>
      </p:sp>
      <p:sp>
        <p:nvSpPr>
          <p:cNvPr id="4" name="rule 3 августа 1921"/>
          <p:cNvSpPr/>
          <p:nvPr/>
        </p:nvSpPr>
        <p:spPr>
          <a:xfrm>
            <a:off x="548640" y="1554480"/>
            <a:ext cx="2453564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73736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августа 1921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060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арест по делу «Петроградской боевой организации»</a:t>
            </a:r>
            <a:endParaRPr lang="en-US" sz="1700" dirty="0"/>
          </a:p>
        </p:txBody>
      </p:sp>
      <p:sp>
        <p:nvSpPr>
          <p:cNvPr id="7" name="rule август 1921"/>
          <p:cNvSpPr/>
          <p:nvPr/>
        </p:nvSpPr>
        <p:spPr>
          <a:xfrm>
            <a:off x="3367964" y="1554480"/>
            <a:ext cx="2453564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67964" y="173736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август 1921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367964" y="26060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расстрел; поэту было 35 лет, место захоронения неизвестно</a:t>
            </a:r>
            <a:endParaRPr lang="en-US" sz="1700" dirty="0"/>
          </a:p>
        </p:txBody>
      </p:sp>
      <p:sp>
        <p:nvSpPr>
          <p:cNvPr id="10" name="rule 1986"/>
          <p:cNvSpPr/>
          <p:nvPr/>
        </p:nvSpPr>
        <p:spPr>
          <a:xfrm>
            <a:off x="6187288" y="1554480"/>
            <a:ext cx="2453564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7288" y="173736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187288" y="26060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к 100-летию поэта его стихи вновь напечатаны в СССР</a:t>
            </a:r>
            <a:endParaRPr lang="en-US" sz="1700" dirty="0"/>
          </a:p>
        </p:txBody>
      </p:sp>
      <p:sp>
        <p:nvSpPr>
          <p:cNvPr id="13" name="rule 1992"/>
          <p:cNvSpPr/>
          <p:nvPr/>
        </p:nvSpPr>
        <p:spPr>
          <a:xfrm>
            <a:off x="9006611" y="1554480"/>
            <a:ext cx="2453564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06611" y="173736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1992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006611" y="26060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официальная реабилитация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069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Более 60 лет имя Гумилёва было под запретом, но его стихи жили в памяти читателей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663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60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4892040"/>
            <a:ext cx="681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— угрюмый и упрямый зодчий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Храма, восстающего во мгле…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«Память», 1921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600" dirty="0"/>
          </a:p>
        </p:txBody>
      </p:sp>
      <p:sp>
        <p:nvSpPr>
          <p:cNvPr id="4" name="check 1 circle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check 1 glyph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3258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Биография Гумилёва — жизнь человека действия: путешественника, воина, учителя молодых поэтов</a:t>
            </a:r>
            <a:endParaRPr lang="en-US" sz="1700" dirty="0"/>
          </a:p>
        </p:txBody>
      </p:sp>
      <p:sp>
        <p:nvSpPr>
          <p:cNvPr id="7" name="check 2 circle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check 2 glyph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470709"/>
            <a:ext cx="307238" cy="30723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225856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Гумилёв — основатель акмеизма, поэзии ясности, точности и любви к земному миру</a:t>
            </a:r>
            <a:endParaRPr lang="en-US" sz="1700" dirty="0"/>
          </a:p>
        </p:txBody>
      </p:sp>
      <p:sp>
        <p:nvSpPr>
          <p:cNvPr id="10" name="check 3 circle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heck 3 glyph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403397"/>
            <a:ext cx="307238" cy="30723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19125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Лирический герой развивается: от конквистадора — к капитану — к поэту-мыслителю</a:t>
            </a:r>
            <a:endParaRPr lang="en-US" sz="1700" dirty="0"/>
          </a:p>
        </p:txBody>
      </p:sp>
      <p:sp>
        <p:nvSpPr>
          <p:cNvPr id="13" name="check 4 circle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check 4 glyph" descr="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336085"/>
            <a:ext cx="307238" cy="30723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412394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Продукт проекта: доклад, презентация, хронологическая и сравнительные таблицы</a:t>
            </a:r>
            <a:endParaRPr lang="en-US" sz="1700" dirty="0"/>
          </a:p>
        </p:txBody>
      </p:sp>
      <p:sp>
        <p:nvSpPr>
          <p:cNvPr id="16" name="hypothesis confirmed"/>
          <p:cNvSpPr/>
          <p:nvPr/>
        </p:nvSpPr>
        <p:spPr>
          <a:xfrm>
            <a:off x="548640" y="5166360"/>
            <a:ext cx="58521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822960" y="51663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 подтвердилась</a:t>
            </a:r>
            <a:endParaRPr lang="en-US" sz="2600" dirty="0"/>
          </a:p>
        </p:txBody>
      </p:sp>
      <p:sp>
        <p:nvSpPr>
          <p:cNvPr id="18" name="quote card"/>
          <p:cNvSpPr/>
          <p:nvPr/>
        </p:nvSpPr>
        <p:spPr>
          <a:xfrm>
            <a:off x="6766560" y="1325880"/>
            <a:ext cx="4876495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7040880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6000" dirty="0"/>
          </a:p>
        </p:txBody>
      </p:sp>
      <p:sp>
        <p:nvSpPr>
          <p:cNvPr id="20" name="Text 13"/>
          <p:cNvSpPr txBox="1"/>
          <p:nvPr/>
        </p:nvSpPr>
        <p:spPr>
          <a:xfrm>
            <a:off x="7543800" y="2743200"/>
            <a:ext cx="39163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учу их, как не бояться,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бояться и делать что надо.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«Мои читатели», 1921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Русская литература XX века. 11 класс: учебник: в 2 ч. Ч. 1 / под ред. В. П. Журавлёва. — М.: Просвещение, 2012.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Гумилёв Н. С. Стихотворения и поэмы. — Л.: Советский писатель, 1988. — (Библиотека поэта).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Гумилёв Н. С. Наследие символизма и акмеизм // Аполлон. — 1913. — № 1.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Гумилёв Н. С. Письма о русской поэзии. — М.: Современник, 1990.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Лукницкая В. К. Николай Гумилёв: Жизнь поэта по материалам домашнего архива семьи Лукницких. — Л.: Лениздат, 1990.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Николай Гумилёв в воспоминаниях современников / ред.-сост. В. Крейд. — М.: Вся Москва, 1990.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Одоевцева И. В. На берегах Невы. — М.: Художественная литература, 1988.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Полушин В. Л. Николай Гумилёв: Жизнь расстрелянного поэта. — М.: Молодая гвардия, 2006. — (ЖЗЛ).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Фотографии: Wikimedia Commons (общественное достояние).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8872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Готов ответить на ваши вопросы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43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4572000"/>
            <a:ext cx="6446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конквистадор в панцире железном,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весело преследую звезду,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прохожу по пропастям и безднам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отдыхаю в радостном саду.</a:t>
            </a:r>
            <a:endParaRPr lang="en-US" sz="1700" dirty="0"/>
          </a:p>
        </p:txBody>
      </p:sp>
      <p:sp>
        <p:nvSpPr>
          <p:cNvPr id="7" name="photo frame cov_nebo.jpg"/>
          <p:cNvSpPr/>
          <p:nvPr/>
        </p:nvSpPr>
        <p:spPr>
          <a:xfrm>
            <a:off x="8531352" y="804672"/>
            <a:ext cx="3054096" cy="37719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8" name="photo cov_nebo.jpg" descr="Обложка сборника «Чужое небо», 1912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0" y="868680"/>
            <a:ext cx="2926080" cy="36438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0" y="46405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Обложка сборника «Чужое небо», 1912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milev">
  <a:themeElements>
    <a:clrScheme name="Gumilev">
      <a:dk1>
        <a:srgbClr val="1B2233"/>
      </a:dk1>
      <a:lt1>
        <a:srgbClr val="FFFFFF"/>
      </a:lt1>
      <a:dk2>
        <a:srgbClr val="1F2A44"/>
      </a:dk2>
      <a:lt2>
        <a:srgbClr val="EEF1F5"/>
      </a:lt2>
      <a:accent1>
        <a:srgbClr val="C8963E"/>
      </a:accent1>
      <a:accent2>
        <a:srgbClr val="3E6E73"/>
      </a:accent2>
      <a:accent3>
        <a:srgbClr val="A4502E"/>
      </a:accent3>
      <a:accent4>
        <a:srgbClr val="7A8BA6"/>
      </a:accent4>
      <a:accent5>
        <a:srgbClr val="E9DCC0"/>
      </a:accent5>
      <a:accent6>
        <a:srgbClr val="5B6170"/>
      </a:accent6>
      <a:hlink>
        <a:srgbClr val="3E6E73"/>
      </a:hlink>
      <a:folHlink>
        <a:srgbClr val="7A8BA6"/>
      </a:folHlink>
    </a:clrScheme>
    <a:fontScheme name="Gumilev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«Муза Дальних Странствий»: жизнь и творчество Николая Гумилёва</dc:title>
  <dc:subject>PptxGenJS Presentation</dc:subject>
  <dc:creator>Досбаев Константин</dc:creator>
  <cp:lastModifiedBy>Досбаев Константин</cp:lastModifiedBy>
  <cp:revision>1</cp:revision>
  <dcterms:created xsi:type="dcterms:W3CDTF">2026-10-17T15:48:05Z</dcterms:created>
  <dcterms:modified xsi:type="dcterms:W3CDTF">2026-10-17T15:48:05Z</dcterms:modified>
</cp:coreProperties>
</file>